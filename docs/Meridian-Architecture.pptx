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pitch: customers place and track trades; orders flow through Kafka to an executor. We will walk the system part by part, then show it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runnable services, one database, one broker. The numbers are from the repo: 21 migrations, 3 topics, 524 passing frontend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The UI only ever talks to auth and the Trade API. Everything slow happens behind Kafka. Ports: 4200, 3000, 8081, 8082.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 while pointing: validate and store, publish after commit, execute, settle in one transaction, publish the outcome, notify.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order ticket live. The proxy means the browser only sees its own origin, so there is no CORS rule to configure in development.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story for the OWASP question: argon2id, issuer check, throttle, written review in security-review/.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 order placement works: OrderController, then OrderServiceImpl, then KafkaOrderEventPublisher. The API never executes an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Keys matter: account id keeps one customer's orders in order, so a sell cannot settle before the buy that funds it. Partition counts are set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 to volunteer: outcomes waiting to be published are held in memory. A restart at the wrong moment loses that retry. A persisted outbox would fix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Seed: 50 NSE shares, 50 US shares and ETFs, 25 crypto pairs, 69 fills with real closing prices. Five demo logins, password in seed/README.md.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domain engine answers where the business rules live. The ETL is the reporting side, kept apart from the live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nine live as modules inside the Trade API, each with its own controller, service and mapper. Assistant is outside today's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first, then rules, then the API, then events, then identity, then the UI, then the features. Each step stood on the one before.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before you are asked. Each is a conscious decision, recorded in DecisionLog.md or decision-log/.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how order placement works, follow this chain top to bottom. Open the UI file first, then each backend file in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windows plus Postgres and Kafka. Login: arun.us and the password in databases/postgresql/seed/README.md.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Hand over to the demo. Backup: the interactive map in docs/architecture-map.html.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trading platform: architecture and how it was built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SE2 Team 5  ·  Chennai capstone  ·  Review, 8 October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2070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services: UI, auth, Trade API, executor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42032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42032" y="12070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2679192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topics, each with a dead-letter topic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26864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26864" y="12070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764024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migrations, plus a seeded demo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11696" y="1143000"/>
            <a:ext cx="1920240" cy="1417320"/>
          </a:xfrm>
          <a:prstGeom prst="roundRect">
            <a:avLst>
              <a:gd name="adj" fmla="val 5161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11696" y="1207008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524</a:t>
            </a:r>
            <a:endParaRPr lang="en-US" sz="4400" dirty="0"/>
          </a:p>
        </p:txBody>
      </p:sp>
      <p:sp>
        <p:nvSpPr>
          <p:cNvPr id="15" name="Text 12"/>
          <p:cNvSpPr txBox="1"/>
          <p:nvPr/>
        </p:nvSpPr>
        <p:spPr>
          <a:xfrm>
            <a:off x="6848856" y="19202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tests passing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8346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Place, cancel and track orders; the executor fills them asynchronously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and profit and loss, shown in rupees or dollars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Watchlists with price alerts, notifications, statements and CSV export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advice, automated strategies and an AI assistant (assistant is out of scope today)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 on one page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365760" y="214884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D6EFEA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11480" y="214884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UI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:4200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2331720" y="914400"/>
            <a:ext cx="1097280" cy="731520"/>
          </a:xfrm>
          <a:prstGeom prst="roundRect">
            <a:avLst>
              <a:gd name="adj" fmla="val 10000"/>
            </a:avLst>
          </a:prstGeom>
          <a:solidFill>
            <a:srgbClr val="D6EFEA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377440" y="91440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:3000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31720" y="21031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D6EFEA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37744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:8081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0" y="21031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0F2A2E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17720" y="210312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· trade-events · market-data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0" y="3657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D6EFEA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617720" y="3657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:8082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2331720" y="3657600"/>
            <a:ext cx="1463040" cy="822960"/>
          </a:xfrm>
          <a:prstGeom prst="roundRect">
            <a:avLst>
              <a:gd name="adj" fmla="val 8889"/>
            </a:avLst>
          </a:prstGeom>
          <a:solidFill>
            <a:srgbClr val="D6EFEA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377440" y="36576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+ auth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040880" y="210312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F2F6F6"/>
          </a:solidFill>
          <a:ln w="15875">
            <a:solidFill>
              <a:srgbClr val="5B6E7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7086600" y="21031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Fauxnance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· candles · FX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040880" y="9144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2F6F6"/>
          </a:solidFill>
          <a:ln w="15875">
            <a:solidFill>
              <a:srgbClr val="5B6E71"/>
            </a:solidFill>
            <a:prstDash val="dash"/>
          </a:ln>
        </p:spPr>
      </p:sp>
      <p:sp>
        <p:nvSpPr>
          <p:cNvPr id="19" name="Text 16"/>
          <p:cNvSpPr txBox="1"/>
          <p:nvPr/>
        </p:nvSpPr>
        <p:spPr>
          <a:xfrm>
            <a:off x="7086600" y="91440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" y="365760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2F6F6"/>
          </a:solidFill>
          <a:ln w="15875">
            <a:solidFill>
              <a:srgbClr val="166E6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11480" y="365760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ETL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DuckDB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 flipV="1">
            <a:off x="1005840" y="1280160"/>
            <a:ext cx="0" cy="86868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1005840" y="1280160"/>
            <a:ext cx="132588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1371600" y="1069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1691640" y="2560320"/>
            <a:ext cx="64008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26" name="Text 23"/>
          <p:cNvSpPr txBox="1"/>
          <p:nvPr/>
        </p:nvSpPr>
        <p:spPr>
          <a:xfrm>
            <a:off x="1737360" y="233172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/api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880360" y="1645920"/>
            <a:ext cx="0" cy="45720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28" name="Text 25"/>
          <p:cNvSpPr txBox="1"/>
          <p:nvPr/>
        </p:nvSpPr>
        <p:spPr>
          <a:xfrm>
            <a:off x="2926080" y="1737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account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063240" y="3017520"/>
            <a:ext cx="0" cy="64008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3108960" y="324612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794760" y="2286000"/>
            <a:ext cx="777240" cy="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3840480" y="2066544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 flipH="1">
            <a:off x="3794760" y="2834640"/>
            <a:ext cx="77724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34" name="Text 31"/>
          <p:cNvSpPr txBox="1"/>
          <p:nvPr/>
        </p:nvSpPr>
        <p:spPr>
          <a:xfrm>
            <a:off x="3840480" y="28803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303520" y="3017520"/>
            <a:ext cx="0" cy="640080"/>
          </a:xfrm>
          <a:prstGeom prst="line">
            <a:avLst/>
          </a:prstGeom>
          <a:noFill/>
          <a:ln w="1905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36" name="Text 33"/>
          <p:cNvSpPr txBox="1"/>
          <p:nvPr/>
        </p:nvSpPr>
        <p:spPr>
          <a:xfrm>
            <a:off x="4617720" y="3246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 flipV="1">
            <a:off x="5577840" y="3017520"/>
            <a:ext cx="0" cy="64008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38" name="Text 35"/>
          <p:cNvSpPr txBox="1"/>
          <p:nvPr/>
        </p:nvSpPr>
        <p:spPr>
          <a:xfrm>
            <a:off x="5623560" y="324612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 flipH="1">
            <a:off x="3794760" y="4069080"/>
            <a:ext cx="77724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40" name="Text 37"/>
          <p:cNvSpPr txBox="1"/>
          <p:nvPr/>
        </p:nvSpPr>
        <p:spPr>
          <a:xfrm>
            <a:off x="3840480" y="38404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6035040" y="4069080"/>
            <a:ext cx="178308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 flipV="1">
            <a:off x="7818120" y="3017520"/>
            <a:ext cx="0" cy="105156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43" name="Text 40"/>
          <p:cNvSpPr txBox="1"/>
          <p:nvPr/>
        </p:nvSpPr>
        <p:spPr>
          <a:xfrm>
            <a:off x="6400800" y="384048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 + FX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 flipV="1">
            <a:off x="3657600" y="1280160"/>
            <a:ext cx="0" cy="82296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none"/>
          </a:ln>
        </p:spPr>
      </p:sp>
      <p:sp>
        <p:nvSpPr>
          <p:cNvPr id="45" name="Shape 42"/>
          <p:cNvSpPr/>
          <p:nvPr/>
        </p:nvSpPr>
        <p:spPr>
          <a:xfrm>
            <a:off x="3657600" y="1280160"/>
            <a:ext cx="338328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46" name="Text 43"/>
          <p:cNvSpPr txBox="1"/>
          <p:nvPr/>
        </p:nvSpPr>
        <p:spPr>
          <a:xfrm>
            <a:off x="5120640" y="1069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00" dirty="0"/>
          </a:p>
        </p:txBody>
      </p:sp>
      <p:sp>
        <p:nvSpPr>
          <p:cNvPr id="47" name="Shape 44"/>
          <p:cNvSpPr/>
          <p:nvPr/>
        </p:nvSpPr>
        <p:spPr>
          <a:xfrm flipH="1">
            <a:off x="1691640" y="4069080"/>
            <a:ext cx="640080" cy="0"/>
          </a:xfrm>
          <a:prstGeom prst="line">
            <a:avLst/>
          </a:prstGeom>
          <a:noFill/>
          <a:ln w="19050">
            <a:solidFill>
              <a:srgbClr val="5B6E71"/>
            </a:solidFill>
            <a:prstDash val="solid"/>
            <a:tailEnd type="triangle"/>
          </a:ln>
        </p:spPr>
      </p:sp>
      <p:sp>
        <p:nvSpPr>
          <p:cNvPr id="48" name="Text 45"/>
          <p:cNvSpPr txBox="1"/>
          <p:nvPr/>
        </p:nvSpPr>
        <p:spPr>
          <a:xfrm>
            <a:off x="1737360" y="38404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46177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Dashed boxes are outside services. Amber arrows are the order path.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one order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94360" y="1325880"/>
            <a:ext cx="384048" cy="384048"/>
          </a:xfrm>
          <a:prstGeom prst="ellipse">
            <a:avLst/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9436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ticket sends POST /api/v1/orders with a bearer token.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2032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679192" y="1325880"/>
            <a:ext cx="384048" cy="384048"/>
          </a:xfrm>
          <a:prstGeom prst="ellipse">
            <a:avLst/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679192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136392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and store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679192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 checks account, funds, hours, duplicates. Order saved as NEW.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26864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64024" y="1325880"/>
            <a:ext cx="384048" cy="384048"/>
          </a:xfrm>
          <a:prstGeom prst="ellipse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64024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221224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4764024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commit, ORDER_PLACED goes to the orders topic, keyed by account.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11696" y="118872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48856" y="1325880"/>
            <a:ext cx="384048" cy="384048"/>
          </a:xfrm>
          <a:prstGeom prst="ellipse">
            <a:avLst/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848856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306056" y="132588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848856" y="181051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 reads it in group trade-executor. Per-account order is kept.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94360" y="3108960"/>
            <a:ext cx="384048" cy="384048"/>
          </a:xfrm>
          <a:prstGeom prst="ellipse">
            <a:avLst/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94360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 updates cash, position, trade and ledger. FILLED or REJECTED.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2542032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679192" y="3108960"/>
            <a:ext cx="384048" cy="384048"/>
          </a:xfrm>
          <a:prstGeom prst="ellipse">
            <a:avLst/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2679192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3136392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2679192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is published to trade-events. Failures go to the dead-letter topic.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4626864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4764024" y="3108960"/>
            <a:ext cx="384048" cy="384048"/>
          </a:xfrm>
          <a:prstGeom prst="ellipse">
            <a:avLst/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764024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4"/>
          <p:cNvSpPr txBox="1"/>
          <p:nvPr/>
        </p:nvSpPr>
        <p:spPr>
          <a:xfrm>
            <a:off x="5221224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4764024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 consumes the event and writes a notification.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6711696" y="297180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6848856" y="3108960"/>
            <a:ext cx="384048" cy="384048"/>
          </a:xfrm>
          <a:prstGeom prst="ellipse">
            <a:avLst/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848856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39"/>
          <p:cNvSpPr txBox="1"/>
          <p:nvPr/>
        </p:nvSpPr>
        <p:spPr>
          <a:xfrm>
            <a:off x="7306056" y="31089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</a:t>
            </a:r>
            <a:endParaRPr lang="en-US" sz="1400" dirty="0"/>
          </a:p>
        </p:txBody>
      </p:sp>
      <p:sp>
        <p:nvSpPr>
          <p:cNvPr id="43" name="Text 40"/>
          <p:cNvSpPr txBox="1"/>
          <p:nvPr/>
        </p:nvSpPr>
        <p:spPr>
          <a:xfrm>
            <a:off x="6848856" y="3593592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reads the blotter, portfolio and notifications.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Angular trading UI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9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10058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4200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4173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screens: dashboard, order ticket, blotter, portfolio, watchlists, statements, notifications, advice, strategies, profile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proxy sends /auth to 3000 and /api to 8081, so no CORS needed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Bearer token attached only to /api paths and /auth/me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currency (INR or USD) converts every amount at the daily rate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guards on every page; the ticket warns about unsaved input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0" y="10972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50992" y="12070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these files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650992" y="1536192"/>
            <a:ext cx="28712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frontend/src/app/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app.routes.ts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features/order-ticket/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order-ticket.ts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core/currency/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display-currency.service.ts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frontend/proxy.conf.json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 service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8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10058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286000" y="10058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8600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4173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login, refresh and me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stored as argon2id hashes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 JWT with account id, issuer and short expiry; other services verify both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throttled per address (5 per 15 minutes, set in .env)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asks the Trade API that the account exists and is active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security review in security-review/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10972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50992" y="12070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these files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50992" y="1536192"/>
            <a:ext cx="28712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services/auth-service/src/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auth/auth.controller.ts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auth/auth.service.ts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users/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account-validation.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service.ts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security-review/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auth-service-review.md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API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 and 10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828800" y="1005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82880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6080" y="10058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92608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4173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Controller, service, MyBatis mapper, PostgreSQL; layering enforced by automated checks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verified as a JWT (signature, issuer); account must match the token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order as NEW, then publishes after the commit; a reconciler retries failed publishes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locking stops two orders spending the same cash; duplicates blocked by a constraint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consumes trade-events and market-data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10972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50992" y="12070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these files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50992" y="1536192"/>
            <a:ext cx="28712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order-service/.../api/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controller/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OrderController.java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OrderServiceImpl.java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KafkaOrderEventPublisher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OrderPublishReconciler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config/SecurityConfig.java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 event backbone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00400"/>
                <a:gridCol w="1188720"/>
                <a:gridCol w="109728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Accepted orders awaiting execution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trade-events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Filled, rejected, cancelled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market-data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Polled quotes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1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2"/>
          <p:cNvSpPr txBox="1"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there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94360" y="3291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an order and executing it are separate. A slow or restarting executor never blocks the customer.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 txBox="1"/>
          <p:nvPr/>
        </p:nvSpPr>
        <p:spPr>
          <a:xfrm>
            <a:off x="4800600" y="29718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fails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4800600" y="329184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topic has a .DLT dead-letter topic. Partitions are never raised while orders are in flight, which would break per-account ordering.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executor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100584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10058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1005840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468880" y="10058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8082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417320"/>
            <a:ext cx="4754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orders and settles each in one transaction: cash, position, trade, ledger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optimistic-lock clashes; exhausted retries go to the dead-letter topic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Publishes the outcome with its own retries, never settling twice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Releases queued orders every 30 seconds once their market opens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Polls Fauxnance for quotes; stores the daily USD/INR rate at 00:15 UTC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0" y="1097280"/>
            <a:ext cx="3200400" cy="2743200"/>
          </a:xfrm>
          <a:prstGeom prst="roundRect">
            <a:avLst>
              <a:gd name="adj" fmla="val 2667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50992" y="120700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these files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650992" y="1536192"/>
            <a:ext cx="2871216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executor-service/.../executor/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consumer/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OrderPlacedConsumer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service/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OrderExecutionService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OrderSettlementService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QueuedOrderReleaser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E6F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poller/MarketDataPoller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schema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82296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05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1371600" y="1005840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D6EFEA"/>
          </a:solidFill>
          <a:ln w="3175">
            <a:solidFill>
              <a:srgbClr val="D6EF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371600" y="10058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migrations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1828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instruments, orders, positions, trades, account_transactions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4612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338328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1828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market_price, watchlists, price_alerts, notifications, customer_preferences, signals, strategies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035040" y="14173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6172200" y="1508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and calendar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1828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fx_rates, market_holidays, fx_rate on orders and trades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20040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exact decimal; duplicates are stopped by a constraint, not a read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are stored, not recomputed; instruments are soft-delisted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apply.sh runs migrations in order, then seed data and logins, on an empty database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engine and analytics ETL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engine (Sprint 5)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Java trading rules: Money, Order, Position, Instrument.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rule fails the build if any framework class is imported, so the rules stay testable alone.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Trade API compiles it in as source.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09728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4800600" y="1188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ETL (Sprints 4 and 7)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50876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pipeline into DuckDB: extract, transform, load follow one contract.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Fauxnance responses are cached by symbol and range.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FACT_TRADES load from PostgreSQL.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Files: domain-engine/   etl-layer/   etl-layer/src/fact_trades/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10 extensions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59436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and watchlists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Quotes, presets, price alerts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246120" y="10972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338328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and P&amp;L in one currency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035040" y="109728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6172200" y="1188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172200" y="15087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trade-events, in-app by default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286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9436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Channel, currency, theme, avatar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246120" y="2286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33832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338328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and cash, CSV export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035040" y="228600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17220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advice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26974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Moving-average signal on request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57200" y="3474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59436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59436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that place orders for you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246120" y="3474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338328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338328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USD/INR rate locked per order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35040" y="3474720"/>
            <a:ext cx="2651760" cy="1051560"/>
          </a:xfrm>
          <a:prstGeom prst="roundRect">
            <a:avLst>
              <a:gd name="adj" fmla="val 6957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172200" y="35661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172200" y="38862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chat, key stays on server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was built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31520" y="2148840"/>
            <a:ext cx="7680960" cy="0"/>
          </a:xfrm>
          <a:prstGeom prst="line">
            <a:avLst/>
          </a:prstGeom>
          <a:noFill/>
          <a:ln w="25400">
            <a:solidFill>
              <a:srgbClr val="CBD8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1148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719072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71907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490472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ETL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798064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79806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2569464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engine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77056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877056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648456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956048" y="1920240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956048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727448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executor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035040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03504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806440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7114032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114032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885432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UI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8193024" y="1920240"/>
            <a:ext cx="457200" cy="457200"/>
          </a:xfrm>
          <a:prstGeom prst="ellipse">
            <a:avLst/>
          </a:prstGeom>
          <a:solidFill>
            <a:srgbClr val="1F9E9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193024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964424" y="25146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" y="15087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291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 txBox="1"/>
          <p:nvPr/>
        </p:nvSpPr>
        <p:spPr>
          <a:xfrm>
            <a:off x="594360" y="3383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Latest</a:t>
            </a:r>
            <a:endParaRPr lang="en-US" sz="1400" dirty="0"/>
          </a:p>
        </p:txBody>
      </p:sp>
      <p:sp>
        <p:nvSpPr>
          <p:cNvPr id="32" name="Text 29"/>
          <p:cNvSpPr txBox="1"/>
          <p:nvPr/>
        </p:nvSpPr>
        <p:spPr>
          <a:xfrm>
            <a:off x="594360" y="3703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INR-based money with a locked USD/INR rate per dollar order, a display-currency preference across the UI, queued orders for closed markets, and a refreshed seed.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cases, limits and risks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0515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fills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an order fills whole or is rejected.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63440" y="10515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800600" y="10515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gains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Statements list fills; cost-basis tax is not calculated.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19659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9659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retry on restart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trade-event publishes are in memory, not an outbox.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9659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9659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SMS, push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Queued, not sent. In-app is the working channel.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8803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94360" y="28803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API docs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is open locally; switch off before deploying.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28803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800600" y="28803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secrets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API key sits in config; rotate before any deploy.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57200" y="37947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37947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need Postgres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verify needs a live database; no Testcontainers yet.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663440" y="3794760"/>
            <a:ext cx="4023360" cy="804672"/>
          </a:xfrm>
          <a:prstGeom prst="roundRect">
            <a:avLst>
              <a:gd name="adj" fmla="val 9091"/>
            </a:avLst>
          </a:prstGeom>
          <a:solidFill>
            <a:srgbClr val="F2F6F6"/>
          </a:solidFill>
          <a:ln w="9525">
            <a:solidFill>
              <a:srgbClr val="CBD8D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379476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6E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 gate on executor and ETL not yet run.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walkthrough: placing an order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05156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737360" y="105156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frontend/.../order-ticket/order-ticket.ts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669280" y="105156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Form, estimate, review, submit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7200" y="157276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1737360" y="157276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OrderController.java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669280" y="157276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/api/v1/orders, token check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093976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09397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1737360" y="2093976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OrderServiceImpl.java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5669280" y="2093976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Validate, store NEW, apply FX lock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2615184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57200" y="261518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737360" y="2615184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KafkaOrderEventPublisher.java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669280" y="2615184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ORDER_PLACED to orders, after commit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57200" y="3136392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1363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1737360" y="3136392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OrderPlacedConsumer.java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0" y="3136392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topic, retries, dead letters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657600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E8A33D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57200" y="365760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1737360" y="3657600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OrderSettlementService.java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5669280" y="3657600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Cash, position, trade, ledger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57200" y="4178808"/>
            <a:ext cx="1097280" cy="420624"/>
          </a:xfrm>
          <a:prstGeom prst="roundRect">
            <a:avLst>
              <a:gd name="adj" fmla="val 13043"/>
            </a:avLst>
          </a:prstGeom>
          <a:solidFill>
            <a:srgbClr val="1F9E9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720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1737360" y="4178808"/>
            <a:ext cx="3840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2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TradeEventsConsumer.java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0" y="4178808"/>
            <a:ext cx="3017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E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notification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it on your laptop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4200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542032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42032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3000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2542032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26864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26864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8081</a:t>
            </a:r>
            <a:endParaRPr lang="en-US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626864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API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711696" y="109728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0F2A2E"/>
          </a:solidFill>
          <a:ln w="6350">
            <a:solidFill>
              <a:srgbClr val="0F2A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11696" y="1170432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8082</a:t>
            </a:r>
            <a:endParaRPr lang="en-US" sz="3600" dirty="0"/>
          </a:p>
        </p:txBody>
      </p:sp>
      <p:sp>
        <p:nvSpPr>
          <p:cNvPr id="15" name="Text 12"/>
          <p:cNvSpPr txBox="1"/>
          <p:nvPr/>
        </p:nvSpPr>
        <p:spPr>
          <a:xfrm>
            <a:off x="6711696" y="17830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.env.example to .env and fill in the secrets; ports live there, never in code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database with databases/postgresql/apply.sh (needs an empty database)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executor, order service and auth service, then npm start in frontend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0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Details: README.md and RUNNING.md at the repo root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E7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3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in, place an order, watch it fill, check the portfolio.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architecture walkthrough</dc:title>
  <dc:subject>PptxGenJS Presentation</dc:subject>
  <dc:creator>SE2 Team 5</dc:creator>
  <cp:lastModifiedBy>SE2 Team 5</cp:lastModifiedBy>
  <cp:revision>1</cp:revision>
  <dcterms:created xsi:type="dcterms:W3CDTF">2026-10-08T07:26:26Z</dcterms:created>
  <dcterms:modified xsi:type="dcterms:W3CDTF">2026-10-08T07:26:26Z</dcterms:modified>
</cp:coreProperties>
</file>